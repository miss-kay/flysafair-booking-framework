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FlySafair booking-funnel monitor. Unlike the flag carriers, FlySafair permits automation, so the whole funnel runs live — search through to the customer-details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live checkpoints, each asserted, each screenshotted. The fifth — payment — is a deliberate hard stop: we prove the funnel is passable without ever entering personal data or paying.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layers, one dependency direction. Adopting another airline is a new site profile plus page objects — nothing else references the airline.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AI, no external service — an ordered chain per element. The heal log is the maintenance signal.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to right: the real search widget, the live results with a fare selected, and the passenger-details page reached with no data entered. The bottom bar states the ethical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run publishes an immutable per-run report and a stable latest link. Security: OIDC, repo-scoped role, least-privilege S3 writes.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FlySafair-specific surface is two small artifacts; the framework is the reusable rest. Roadmap ordered by signal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8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920240"/>
            <a:ext cx="4937760" cy="4937760"/>
          </a:xfrm>
          <a:prstGeom prst="ellipse">
            <a:avLst/>
          </a:prstGeom>
          <a:solidFill>
            <a:srgbClr val="EC008C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406640" y="-1188720"/>
            <a:ext cx="3291840" cy="3291840"/>
          </a:xfrm>
          <a:prstGeom prst="ellipse">
            <a:avLst/>
          </a:prstGeom>
          <a:solidFill>
            <a:srgbClr val="00A0E3">
              <a:alpha val="2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548640"/>
            <a:ext cx="713232" cy="713232"/>
          </a:xfrm>
          <a:prstGeom prst="ellipse">
            <a:avLst/>
          </a:prstGeom>
          <a:solidFill>
            <a:srgbClr val="EC008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360" y="734080"/>
            <a:ext cx="342351" cy="34235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5544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A0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FUNNEL DROP-OFF MONITOR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1865376"/>
            <a:ext cx="841248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FlySafair Booking Funnel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502920" y="27432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B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self-healing Playwright framework that walks the live funnel end-to-end, with CI/CD to GitHub Actions &amp; AWS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02920" y="3703320"/>
            <a:ext cx="1252728" cy="402336"/>
          </a:xfrm>
          <a:prstGeom prst="roundRect">
            <a:avLst>
              <a:gd name="adj" fmla="val 50000"/>
            </a:avLst>
          </a:prstGeom>
          <a:solidFill>
            <a:srgbClr val="22384F"/>
          </a:solidFill>
          <a:ln w="12700">
            <a:solidFill>
              <a:srgbClr val="3146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3703320"/>
            <a:ext cx="1252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1920240" y="3703320"/>
            <a:ext cx="1252728" cy="402336"/>
          </a:xfrm>
          <a:prstGeom prst="roundRect">
            <a:avLst>
              <a:gd name="adj" fmla="val 50000"/>
            </a:avLst>
          </a:prstGeom>
          <a:solidFill>
            <a:srgbClr val="22384F"/>
          </a:solidFill>
          <a:ln w="12700">
            <a:solidFill>
              <a:srgbClr val="3146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920240" y="3703320"/>
            <a:ext cx="1252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37560" y="3703320"/>
            <a:ext cx="1636776" cy="402336"/>
          </a:xfrm>
          <a:prstGeom prst="roundRect">
            <a:avLst>
              <a:gd name="adj" fmla="val 50000"/>
            </a:avLst>
          </a:prstGeom>
          <a:solidFill>
            <a:srgbClr val="22384F"/>
          </a:solidFill>
          <a:ln w="12700">
            <a:solidFill>
              <a:srgbClr val="31465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337560" y="3703320"/>
            <a:ext cx="16367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138928" y="3703320"/>
            <a:ext cx="2116836" cy="402336"/>
          </a:xfrm>
          <a:prstGeom prst="roundRect">
            <a:avLst>
              <a:gd name="adj" fmla="val 50000"/>
            </a:avLst>
          </a:prstGeom>
          <a:solidFill>
            <a:srgbClr val="22384F"/>
          </a:solidFill>
          <a:ln w="12700">
            <a:solidFill>
              <a:srgbClr val="31465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138928" y="3703320"/>
            <a:ext cx="21168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S3 + CloudFront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02920" y="461772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github.com/Miss-Kay/flysafair-booking-framework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Booking funnels leak customers silently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75488" cy="475488"/>
          </a:xfrm>
          <a:prstGeom prst="ellipse">
            <a:avLst/>
          </a:prstGeom>
          <a:solidFill>
            <a:srgbClr val="EC008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827" y="1312347"/>
            <a:ext cx="228234" cy="22823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15568" y="1133856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search widget is the front door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115568" y="1444752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1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broken autocomplete or calendar loses customers before a booking exists — revenue just dips, no bug report.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468880"/>
            <a:ext cx="475488" cy="475488"/>
          </a:xfrm>
          <a:prstGeom prst="ellipse">
            <a:avLst/>
          </a:prstGeom>
          <a:solidFill>
            <a:srgbClr val="EC008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827" y="2592507"/>
            <a:ext cx="228234" cy="22823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15568" y="2414016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at every step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1115568" y="2724912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1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Origin, destination, date, submit, fare, details — each checkpoint attaches a screenshot, so a failure shows what the customer saw.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57200" y="3749040"/>
            <a:ext cx="475488" cy="475488"/>
          </a:xfrm>
          <a:prstGeom prst="ellipse">
            <a:avLst/>
          </a:prstGeom>
          <a:solidFill>
            <a:srgbClr val="EC008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827" y="3872667"/>
            <a:ext cx="228234" cy="22823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15568" y="3694176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before customers notice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1115568" y="4005072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1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push and PR plus a weekly schedule; a failure pinpoints the leaking step instead of a vague “bookings are down”.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4983480" y="1051560"/>
            <a:ext cx="3657600" cy="512064"/>
          </a:xfrm>
          <a:prstGeom prst="roundRect">
            <a:avLst>
              <a:gd name="adj" fmla="val 14286"/>
            </a:avLst>
          </a:prstGeom>
          <a:solidFill>
            <a:srgbClr val="EC008C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6" name="Text 11"/>
          <p:cNvSpPr/>
          <p:nvPr/>
        </p:nvSpPr>
        <p:spPr>
          <a:xfrm>
            <a:off x="4983480" y="1051560"/>
            <a:ext cx="3657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pPr algn="ctr" indent="0" marL="0">
              <a:buNone/>
            </a:pPr>
            <a:r>
              <a:rPr lang="en-US" sz="8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JNB → CPT, one-way, 30 days out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812280" y="1563624"/>
            <a:ext cx="0" cy="201168"/>
          </a:xfrm>
          <a:prstGeom prst="line">
            <a:avLst/>
          </a:prstGeom>
          <a:noFill/>
          <a:ln w="28575">
            <a:solidFill>
              <a:srgbClr val="B9BBC1"/>
            </a:solidFill>
            <a:prstDash val="solid"/>
            <a:tailEnd type="triangle"/>
          </a:ln>
        </p:spPr>
      </p:sp>
      <p:sp>
        <p:nvSpPr>
          <p:cNvPr id="18" name="Shape 13"/>
          <p:cNvSpPr/>
          <p:nvPr/>
        </p:nvSpPr>
        <p:spPr>
          <a:xfrm>
            <a:off x="5212080" y="1764792"/>
            <a:ext cx="3200400" cy="512064"/>
          </a:xfrm>
          <a:prstGeom prst="roundRect">
            <a:avLst>
              <a:gd name="adj" fmla="val 14286"/>
            </a:avLst>
          </a:prstGeom>
          <a:solidFill>
            <a:srgbClr val="00A0E3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5212080" y="1764792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render</a:t>
            </a:r>
            <a:pPr algn="ctr" indent="0" marL="0">
              <a:buNone/>
            </a:pPr>
            <a:r>
              <a:rPr lang="en-US" sz="8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flight-selection page loads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812280" y="2276856"/>
            <a:ext cx="0" cy="201168"/>
          </a:xfrm>
          <a:prstGeom prst="line">
            <a:avLst/>
          </a:prstGeom>
          <a:noFill/>
          <a:ln w="28575">
            <a:solidFill>
              <a:srgbClr val="B9BBC1"/>
            </a:solidFill>
            <a:prstDash val="solid"/>
            <a:tailEnd type="triangle"/>
          </a:ln>
        </p:spPr>
      </p:sp>
      <p:sp>
        <p:nvSpPr>
          <p:cNvPr id="21" name="Shape 16"/>
          <p:cNvSpPr/>
          <p:nvPr/>
        </p:nvSpPr>
        <p:spPr>
          <a:xfrm>
            <a:off x="5440680" y="2478024"/>
            <a:ext cx="2743200" cy="512064"/>
          </a:xfrm>
          <a:prstGeom prst="roundRect">
            <a:avLst>
              <a:gd name="adj" fmla="val 14286"/>
            </a:avLst>
          </a:prstGeom>
          <a:solidFill>
            <a:srgbClr val="00A0E3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22" name="Text 17"/>
          <p:cNvSpPr/>
          <p:nvPr/>
        </p:nvSpPr>
        <p:spPr>
          <a:xfrm>
            <a:off x="5440680" y="2478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flight + fare</a:t>
            </a:r>
            <a:pPr algn="ctr" indent="0" marL="0">
              <a:buNone/>
            </a:pPr>
            <a:r>
              <a:rPr lang="en-US" sz="8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first bookable, cheapest fare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6812280" y="2990088"/>
            <a:ext cx="0" cy="201168"/>
          </a:xfrm>
          <a:prstGeom prst="line">
            <a:avLst/>
          </a:prstGeom>
          <a:noFill/>
          <a:ln w="28575">
            <a:solidFill>
              <a:srgbClr val="B9BBC1"/>
            </a:solidFill>
            <a:prstDash val="solid"/>
            <a:tailEnd type="triangle"/>
          </a:ln>
        </p:spPr>
      </p:sp>
      <p:sp>
        <p:nvSpPr>
          <p:cNvPr id="24" name="Shape 19"/>
          <p:cNvSpPr/>
          <p:nvPr/>
        </p:nvSpPr>
        <p:spPr>
          <a:xfrm>
            <a:off x="5669280" y="3191256"/>
            <a:ext cx="2286000" cy="512064"/>
          </a:xfrm>
          <a:prstGeom prst="roundRect">
            <a:avLst>
              <a:gd name="adj" fmla="val 14286"/>
            </a:avLst>
          </a:prstGeom>
          <a:solidFill>
            <a:srgbClr val="00A0E3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25" name="Text 20"/>
          <p:cNvSpPr/>
          <p:nvPr/>
        </p:nvSpPr>
        <p:spPr>
          <a:xfrm>
            <a:off x="5669280" y="3191256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details</a:t>
            </a:r>
            <a:pPr algn="ctr" indent="0" marL="0">
              <a:buNone/>
            </a:pPr>
            <a:r>
              <a:rPr lang="en-US" sz="8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passenger page displayed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6812280" y="3703320"/>
            <a:ext cx="0" cy="201168"/>
          </a:xfrm>
          <a:prstGeom prst="line">
            <a:avLst/>
          </a:prstGeom>
          <a:noFill/>
          <a:ln w="28575">
            <a:solidFill>
              <a:srgbClr val="B9BBC1"/>
            </a:solidFill>
            <a:prstDash val="solid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5875020" y="3904488"/>
            <a:ext cx="1874520" cy="512064"/>
          </a:xfrm>
          <a:prstGeom prst="roundRect">
            <a:avLst>
              <a:gd name="adj" fmla="val 14286"/>
            </a:avLst>
          </a:prstGeom>
          <a:solidFill>
            <a:srgbClr val="8A8D96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28" name="Text 23"/>
          <p:cNvSpPr/>
          <p:nvPr/>
        </p:nvSpPr>
        <p:spPr>
          <a:xfrm>
            <a:off x="5875020" y="390448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gate</a:t>
            </a:r>
            <a:pPr algn="ctr" indent="0" marL="0">
              <a:buNone/>
            </a:pPr>
            <a:r>
              <a:rPr lang="en-US" sz="8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hard stop — never automated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6812280" y="4416552"/>
            <a:ext cx="0" cy="201168"/>
          </a:xfrm>
          <a:prstGeom prst="line">
            <a:avLst/>
          </a:prstGeom>
          <a:noFill/>
          <a:ln w="28575">
            <a:solidFill>
              <a:srgbClr val="B9BBC1"/>
            </a:solidFill>
            <a:prstDash val="solid"/>
            <a:tailEnd type="triangle"/>
          </a:ln>
        </p:spPr>
      </p:sp>
      <p:sp>
        <p:nvSpPr>
          <p:cNvPr id="30" name="Text 25"/>
          <p:cNvSpPr/>
          <p:nvPr/>
        </p:nvSpPr>
        <p:spPr>
          <a:xfrm>
            <a:off x="4572000" y="468172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coloured = automated &amp; asserted today · grey = the deliberate stop before payment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— deliberately simple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38528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03504" y="1289304"/>
            <a:ext cx="384048" cy="384048"/>
          </a:xfrm>
          <a:prstGeom prst="ellipse">
            <a:avLst/>
          </a:prstGeom>
          <a:solidFill>
            <a:srgbClr val="16283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3356" y="1389156"/>
            <a:ext cx="184343" cy="18434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60704" y="1289304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 spec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03504" y="178308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booking-journey.spec.ts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test per search in the matrix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2423160" y="1792224"/>
            <a:ext cx="219456" cy="0"/>
          </a:xfrm>
          <a:prstGeom prst="line">
            <a:avLst/>
          </a:prstGeom>
          <a:noFill/>
          <a:ln w="28575">
            <a:solidFill>
              <a:srgbClr val="9AA0A8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70048" y="1143000"/>
            <a:ext cx="1938528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816352" y="1289304"/>
            <a:ext cx="384048" cy="384048"/>
          </a:xfrm>
          <a:prstGeom prst="ellipse">
            <a:avLst/>
          </a:prstGeom>
          <a:solidFill>
            <a:srgbClr val="16283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6204" y="1389156"/>
            <a:ext cx="184343" cy="18434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273552" y="1289304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objects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2816352" y="178308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/ Results / Passenger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locators + actions only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4636008" y="1792224"/>
            <a:ext cx="219456" cy="0"/>
          </a:xfrm>
          <a:prstGeom prst="line">
            <a:avLst/>
          </a:prstGeom>
          <a:noFill/>
          <a:ln w="28575">
            <a:solidFill>
              <a:srgbClr val="9AA0A8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4882896" y="1143000"/>
            <a:ext cx="1938528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029200" y="1289304"/>
            <a:ext cx="384048" cy="384048"/>
          </a:xfrm>
          <a:prstGeom prst="ellipse">
            <a:avLst/>
          </a:prstGeom>
          <a:solidFill>
            <a:srgbClr val="EC008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9052" y="1389156"/>
            <a:ext cx="184343" cy="18434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486400" y="1289304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Self-healing locators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5029200" y="178308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selfHealing.ts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 fallback chains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6848856" y="1792224"/>
            <a:ext cx="219456" cy="0"/>
          </a:xfrm>
          <a:prstGeom prst="line">
            <a:avLst/>
          </a:prstGeom>
          <a:noFill/>
          <a:ln w="28575">
            <a:solidFill>
              <a:srgbClr val="9AA0A8"/>
            </a:solidFill>
            <a:prstDash val="solid"/>
            <a:tailEnd type="triangle"/>
          </a:ln>
        </p:spPr>
      </p:sp>
      <p:sp>
        <p:nvSpPr>
          <p:cNvPr id="21" name="Shape 16"/>
          <p:cNvSpPr/>
          <p:nvPr/>
        </p:nvSpPr>
        <p:spPr>
          <a:xfrm>
            <a:off x="7095744" y="1143000"/>
            <a:ext cx="1938528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242048" y="1289304"/>
            <a:ext cx="384048" cy="384048"/>
          </a:xfrm>
          <a:prstGeom prst="ellipse">
            <a:avLst/>
          </a:prstGeom>
          <a:solidFill>
            <a:srgbClr val="00A0E3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1900" y="1389156"/>
            <a:ext cx="184343" cy="184343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699248" y="1289304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flysafair.co.za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7242048" y="178308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site, driven live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search to details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960120" y="3291840"/>
            <a:ext cx="2377440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1088136" y="3419856"/>
            <a:ext cx="329184" cy="329184"/>
          </a:xfrm>
          <a:prstGeom prst="ellipse">
            <a:avLst/>
          </a:prstGeom>
          <a:solidFill>
            <a:srgbClr val="C8A24B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3724" y="3505444"/>
            <a:ext cx="158008" cy="15800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508760" y="34198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profile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1088136" y="378561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airline-specific value in one object — URLs, locale, results &amp; bot-block patterns</a:t>
            </a:r>
            <a:endParaRPr lang="en-US" sz="850" dirty="0"/>
          </a:p>
        </p:txBody>
      </p:sp>
      <p:sp>
        <p:nvSpPr>
          <p:cNvPr id="31" name="Shape 24"/>
          <p:cNvSpPr/>
          <p:nvPr/>
        </p:nvSpPr>
        <p:spPr>
          <a:xfrm>
            <a:off x="2148840" y="3273552"/>
            <a:ext cx="0" cy="-457200"/>
          </a:xfrm>
          <a:prstGeom prst="line">
            <a:avLst/>
          </a:prstGeom>
          <a:noFill/>
          <a:ln w="28575">
            <a:solidFill>
              <a:srgbClr val="9AA0A8"/>
            </a:solidFill>
            <a:prstDash val="solid"/>
            <a:tailEnd type="triangle"/>
          </a:ln>
        </p:spPr>
      </p:sp>
      <p:sp>
        <p:nvSpPr>
          <p:cNvPr id="32" name="Shape 25"/>
          <p:cNvSpPr/>
          <p:nvPr/>
        </p:nvSpPr>
        <p:spPr>
          <a:xfrm>
            <a:off x="3566160" y="3291840"/>
            <a:ext cx="2377440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33" name="Shape 26"/>
          <p:cNvSpPr/>
          <p:nvPr/>
        </p:nvSpPr>
        <p:spPr>
          <a:xfrm>
            <a:off x="3694176" y="3419856"/>
            <a:ext cx="329184" cy="329184"/>
          </a:xfrm>
          <a:prstGeom prst="ellipse">
            <a:avLst/>
          </a:prstGeom>
          <a:solidFill>
            <a:srgbClr val="C8A24B"/>
          </a:solidFill>
          <a:ln/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9764" y="3505444"/>
            <a:ext cx="158008" cy="158008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4114800" y="34198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test data</a:t>
            </a:r>
            <a:endParaRPr lang="en-US" sz="1100" dirty="0"/>
          </a:p>
        </p:txBody>
      </p:sp>
      <p:sp>
        <p:nvSpPr>
          <p:cNvPr id="36" name="Text 28"/>
          <p:cNvSpPr/>
          <p:nvPr/>
        </p:nvSpPr>
        <p:spPr>
          <a:xfrm>
            <a:off x="3694176" y="378561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matrix + evergreen dates (daysFromNow)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4754880" y="3273552"/>
            <a:ext cx="0" cy="-457200"/>
          </a:xfrm>
          <a:prstGeom prst="line">
            <a:avLst/>
          </a:prstGeom>
          <a:noFill/>
          <a:ln w="28575">
            <a:solidFill>
              <a:srgbClr val="9AA0A8"/>
            </a:solidFill>
            <a:prstDash val="solid"/>
            <a:tailEnd type="triangle"/>
          </a:ln>
        </p:spPr>
      </p:sp>
      <p:sp>
        <p:nvSpPr>
          <p:cNvPr id="38" name="Shape 30"/>
          <p:cNvSpPr/>
          <p:nvPr/>
        </p:nvSpPr>
        <p:spPr>
          <a:xfrm>
            <a:off x="6172200" y="3291840"/>
            <a:ext cx="2377440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39" name="Shape 31"/>
          <p:cNvSpPr/>
          <p:nvPr/>
        </p:nvSpPr>
        <p:spPr>
          <a:xfrm>
            <a:off x="6300216" y="3419856"/>
            <a:ext cx="329184" cy="329184"/>
          </a:xfrm>
          <a:prstGeom prst="ellipse">
            <a:avLst/>
          </a:prstGeom>
          <a:solidFill>
            <a:srgbClr val="C8A24B"/>
          </a:solidFill>
          <a:ln/>
        </p:spPr>
      </p:sp>
      <p:pic>
        <p:nvPicPr>
          <p:cNvPr id="4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5804" y="3505444"/>
            <a:ext cx="158008" cy="158008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6720840" y="34198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Self-heal + skip</a:t>
            </a:r>
            <a:endParaRPr lang="en-US" sz="1100" dirty="0"/>
          </a:p>
        </p:txBody>
      </p:sp>
      <p:sp>
        <p:nvSpPr>
          <p:cNvPr id="42" name="Text 33"/>
          <p:cNvSpPr/>
          <p:nvPr/>
        </p:nvSpPr>
        <p:spPr>
          <a:xfrm>
            <a:off x="6300216" y="378561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heals logged loudly; a bot-blocked run skips, never false-fails</a:t>
            </a:r>
            <a:endParaRPr lang="en-US" sz="850" dirty="0"/>
          </a:p>
        </p:txBody>
      </p:sp>
      <p:sp>
        <p:nvSpPr>
          <p:cNvPr id="43" name="Shape 34"/>
          <p:cNvSpPr/>
          <p:nvPr/>
        </p:nvSpPr>
        <p:spPr>
          <a:xfrm>
            <a:off x="7360920" y="3273552"/>
            <a:ext cx="0" cy="-457200"/>
          </a:xfrm>
          <a:prstGeom prst="line">
            <a:avLst/>
          </a:prstGeom>
          <a:noFill/>
          <a:ln w="28575">
            <a:solidFill>
              <a:srgbClr val="9AA0A8"/>
            </a:solidFill>
            <a:prstDash val="solid"/>
            <a:tailEnd type="triangle"/>
          </a:ln>
        </p:spPr>
      </p:sp>
      <p:sp>
        <p:nvSpPr>
          <p:cNvPr id="44" name="Text 35"/>
          <p:cNvSpPr/>
          <p:nvPr/>
        </p:nvSpPr>
        <p:spPr>
          <a:xfrm>
            <a:off x="457200" y="459028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31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rules:  selectors live only in page objects  ·  heals are logged, never silent  ·  tests read like the customer journey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Self-healing locators — ordered fallbacks, no magic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25296"/>
            <a:ext cx="4480560" cy="768096"/>
          </a:xfrm>
          <a:prstGeom prst="roundRect">
            <a:avLst>
              <a:gd name="adj" fmla="val 10714"/>
            </a:avLst>
          </a:prstGeom>
          <a:solidFill>
            <a:srgbClr val="F4F6F8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21792" y="1408176"/>
            <a:ext cx="402336" cy="402336"/>
          </a:xfrm>
          <a:prstGeom prst="ellipse">
            <a:avLst/>
          </a:prstGeom>
          <a:solidFill>
            <a:srgbClr val="16283C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1408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70432" y="131673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data-testid / stable attr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170432" y="16367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stable — survives redesigns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606040" y="1993392"/>
            <a:ext cx="0" cy="146304"/>
          </a:xfrm>
          <a:prstGeom prst="line">
            <a:avLst/>
          </a:prstGeom>
          <a:noFill/>
          <a:ln w="28575">
            <a:solidFill>
              <a:srgbClr val="B9BBC1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57200" y="2176272"/>
            <a:ext cx="4480560" cy="768096"/>
          </a:xfrm>
          <a:prstGeom prst="roundRect">
            <a:avLst>
              <a:gd name="adj" fmla="val 10714"/>
            </a:avLst>
          </a:prstGeom>
          <a:solidFill>
            <a:srgbClr val="F4F6F8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" y="2359152"/>
            <a:ext cx="402336" cy="402336"/>
          </a:xfrm>
          <a:prstGeom prst="ellipse">
            <a:avLst/>
          </a:prstGeom>
          <a:solidFill>
            <a:srgbClr val="EC008C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" y="23591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70432" y="226771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+ accessible name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170432" y="25877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survives CSS refactors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606040" y="2944368"/>
            <a:ext cx="0" cy="146304"/>
          </a:xfrm>
          <a:prstGeom prst="line">
            <a:avLst/>
          </a:prstGeom>
          <a:noFill/>
          <a:ln w="28575">
            <a:solidFill>
              <a:srgbClr val="B9BBC1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57200" y="3127248"/>
            <a:ext cx="4480560" cy="768096"/>
          </a:xfrm>
          <a:prstGeom prst="roundRect">
            <a:avLst>
              <a:gd name="adj" fmla="val 10714"/>
            </a:avLst>
          </a:prstGeom>
          <a:solidFill>
            <a:srgbClr val="F4F6F8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1792" y="3310128"/>
            <a:ext cx="402336" cy="402336"/>
          </a:xfrm>
          <a:prstGeom prst="ellipse">
            <a:avLst/>
          </a:prstGeom>
          <a:solidFill>
            <a:srgbClr val="16283C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3101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70432" y="321868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 / visible text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170432" y="35387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resort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4160520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16283C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16052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E3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[SELF-HEAL] "One-way trip type": healed using fallback "role=radio oneWay" (candidate #2)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212080" y="1225296"/>
            <a:ext cx="3474720" cy="1188720"/>
          </a:xfrm>
          <a:prstGeom prst="roundRect">
            <a:avLst>
              <a:gd name="adj" fmla="val 6923"/>
            </a:avLst>
          </a:prstGeom>
          <a:solidFill>
            <a:srgbClr val="EC008C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94960" y="1298448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2–3</a:t>
            </a:r>
            <a:endParaRPr lang="en-US" sz="4000" dirty="0"/>
          </a:p>
        </p:txBody>
      </p:sp>
      <p:sp>
        <p:nvSpPr>
          <p:cNvPr id="24" name="Text 22"/>
          <p:cNvSpPr/>
          <p:nvPr/>
        </p:nvSpPr>
        <p:spPr>
          <a:xfrm>
            <a:off x="6537960" y="1353312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 strategies per element — a UI change degrades the suite gracefully instead of breaking it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212080" y="2615184"/>
            <a:ext cx="3474720" cy="1261872"/>
          </a:xfrm>
          <a:prstGeom prst="roundRect">
            <a:avLst>
              <a:gd name="adj" fmla="val 6522"/>
            </a:avLst>
          </a:prstGeom>
          <a:solidFill>
            <a:srgbClr val="F4F6F8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394960" y="272491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Heals demand a fix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394960" y="3035808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1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fallback use is logged with the failed candidates, so the primary selector gets repaired instead of rotting quietly.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28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funnel, driven live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CB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FlySafair permits automation, so every step runs against the real site — no mocks, no fixtures.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715768" cy="2487168"/>
          </a:xfrm>
          <a:prstGeom prst="roundRect">
            <a:avLst>
              <a:gd name="adj" fmla="val 2206"/>
            </a:avLst>
          </a:prstGeom>
          <a:solidFill>
            <a:srgbClr val="22384F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pic>
        <p:nvPicPr>
          <p:cNvPr id="5" name="Image 0" descr="/private/tmp/claude-501/-Users-misskay-Downloads-flysafair-booking-framework/044d409d-92a4-4ebe-b3c7-15f425f1b723/scratchpad/fs-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2532888" cy="17007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3310128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Search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66928" y="3584448"/>
            <a:ext cx="2496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E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JNB → CPT, one-way, 30 days out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3429000" y="1371600"/>
            <a:ext cx="2715768" cy="2487168"/>
          </a:xfrm>
          <a:prstGeom prst="roundRect">
            <a:avLst>
              <a:gd name="adj" fmla="val 2206"/>
            </a:avLst>
          </a:prstGeom>
          <a:solidFill>
            <a:srgbClr val="22384F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pic>
        <p:nvPicPr>
          <p:cNvPr id="9" name="Image 1" descr="/private/tmp/claude-501/-Users-misskay-Downloads-flysafair-booking-framework/044d409d-92a4-4ebe-b3c7-15f425f1b723/scratchpad/fs-resul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520440" y="1463040"/>
            <a:ext cx="2532888" cy="170078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38728" y="3310128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Results &amp; fare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3538728" y="3584448"/>
            <a:ext cx="2496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E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selected, cheapest fare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6400800" y="1371600"/>
            <a:ext cx="2715768" cy="2487168"/>
          </a:xfrm>
          <a:prstGeom prst="roundRect">
            <a:avLst>
              <a:gd name="adj" fmla="val 2206"/>
            </a:avLst>
          </a:prstGeom>
          <a:solidFill>
            <a:srgbClr val="22384F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pic>
        <p:nvPicPr>
          <p:cNvPr id="13" name="Image 2" descr="/private/tmp/claude-501/-Users-misskay-Downloads-flysafair-booking-framework/044d409d-92a4-4ebe-b3c7-15f425f1b723/scratchpad/fs-passenger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92240" y="1463040"/>
            <a:ext cx="2532888" cy="17007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0528" y="3310128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Customer details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6510528" y="3584448"/>
            <a:ext cx="2496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E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 page — then STOP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457200" y="4114800"/>
            <a:ext cx="8275320" cy="713232"/>
          </a:xfrm>
          <a:prstGeom prst="roundRect">
            <a:avLst>
              <a:gd name="adj" fmla="val 11538"/>
            </a:avLst>
          </a:prstGeom>
          <a:solidFill>
            <a:srgbClr val="22384F"/>
          </a:solidFill>
          <a:ln/>
        </p:spPr>
      </p:sp>
      <p:sp>
        <p:nvSpPr>
          <p:cNvPr id="17" name="Shape 12"/>
          <p:cNvSpPr/>
          <p:nvPr/>
        </p:nvSpPr>
        <p:spPr>
          <a:xfrm>
            <a:off x="621792" y="4224528"/>
            <a:ext cx="402336" cy="402336"/>
          </a:xfrm>
          <a:prstGeom prst="ellipse">
            <a:avLst/>
          </a:prstGeom>
          <a:solidFill>
            <a:srgbClr val="00A0E3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399" y="4329135"/>
            <a:ext cx="193121" cy="193121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188720" y="411480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that block automation are handled honestly: if a bot-protection page appears, the test SKIPS with a reason — it never fakes a human session or evades detection.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 — from push to published report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463040" cy="1481328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60120" y="1353312"/>
            <a:ext cx="457200" cy="457200"/>
          </a:xfrm>
          <a:prstGeom prst="ellipse">
            <a:avLst/>
          </a:prstGeom>
          <a:solidFill>
            <a:srgbClr val="16283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992" y="1472184"/>
            <a:ext cx="219456" cy="219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88366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30352" y="2176272"/>
            <a:ext cx="1316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· PR · weekly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06:00 SAST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1947672" y="1920240"/>
            <a:ext cx="164592" cy="0"/>
          </a:xfrm>
          <a:prstGeom prst="line">
            <a:avLst/>
          </a:prstGeom>
          <a:noFill/>
          <a:ln w="28575">
            <a:solidFill>
              <a:srgbClr val="9AA0A8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139696" y="1188720"/>
            <a:ext cx="1463040" cy="1481328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642616" y="1353312"/>
            <a:ext cx="457200" cy="457200"/>
          </a:xfrm>
          <a:prstGeom prst="ellipse">
            <a:avLst/>
          </a:prstGeom>
          <a:solidFill>
            <a:srgbClr val="EC008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1488" y="1472184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185416" y="188366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job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2212848" y="2176272"/>
            <a:ext cx="1316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typecheck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(chromium)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report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3630168" y="1920240"/>
            <a:ext cx="164592" cy="0"/>
          </a:xfrm>
          <a:prstGeom prst="line">
            <a:avLst/>
          </a:prstGeom>
          <a:noFill/>
          <a:ln w="28575">
            <a:solidFill>
              <a:srgbClr val="9AA0A8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3822192" y="1188720"/>
            <a:ext cx="1463040" cy="1481328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325112" y="1353312"/>
            <a:ext cx="457200" cy="457200"/>
          </a:xfrm>
          <a:prstGeom prst="ellipse">
            <a:avLst/>
          </a:prstGeom>
          <a:solidFill>
            <a:srgbClr val="16283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1472184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867912" y="188366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S3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3895344" y="2176272"/>
            <a:ext cx="1316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reports/&lt;run&gt;/ + latest/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lifecycle</a:t>
            </a:r>
            <a:endParaRPr 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5312664" y="1920240"/>
            <a:ext cx="164592" cy="0"/>
          </a:xfrm>
          <a:prstGeom prst="line">
            <a:avLst/>
          </a:prstGeom>
          <a:noFill/>
          <a:ln w="28575">
            <a:solidFill>
              <a:srgbClr val="9AA0A8"/>
            </a:solidFill>
            <a:prstDash val="solid"/>
            <a:tailEnd type="triangle"/>
          </a:ln>
        </p:spPr>
      </p:sp>
      <p:sp>
        <p:nvSpPr>
          <p:cNvPr id="21" name="Shape 16"/>
          <p:cNvSpPr/>
          <p:nvPr/>
        </p:nvSpPr>
        <p:spPr>
          <a:xfrm>
            <a:off x="5504688" y="1188720"/>
            <a:ext cx="1463040" cy="1481328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007608" y="1353312"/>
            <a:ext cx="457200" cy="457200"/>
          </a:xfrm>
          <a:prstGeom prst="ellipse">
            <a:avLst/>
          </a:prstGeom>
          <a:solidFill>
            <a:srgbClr val="00A0E3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472184"/>
            <a:ext cx="219456" cy="21945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550408" y="188366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577840" y="2176272"/>
            <a:ext cx="1316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HTTPS, no-cache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latest link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6995160" y="1920240"/>
            <a:ext cx="164592" cy="0"/>
          </a:xfrm>
          <a:prstGeom prst="line">
            <a:avLst/>
          </a:prstGeom>
          <a:noFill/>
          <a:ln w="28575">
            <a:solidFill>
              <a:srgbClr val="9AA0A8"/>
            </a:solidFill>
            <a:prstDash val="solid"/>
            <a:tailEnd type="triangle"/>
          </a:ln>
        </p:spPr>
      </p:sp>
      <p:sp>
        <p:nvSpPr>
          <p:cNvPr id="27" name="Shape 21"/>
          <p:cNvSpPr/>
          <p:nvPr/>
        </p:nvSpPr>
        <p:spPr>
          <a:xfrm>
            <a:off x="7187184" y="1188720"/>
            <a:ext cx="1463040" cy="1481328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7690104" y="1353312"/>
            <a:ext cx="457200" cy="457200"/>
          </a:xfrm>
          <a:prstGeom prst="ellipse">
            <a:avLst/>
          </a:prstGeom>
          <a:solidFill>
            <a:srgbClr val="C8A24B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6" y="1472184"/>
            <a:ext cx="219456" cy="219456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232904" y="188366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</a:t>
            </a:r>
            <a:endParaRPr lang="en-US" sz="1250" dirty="0"/>
          </a:p>
        </p:txBody>
      </p:sp>
      <p:sp>
        <p:nvSpPr>
          <p:cNvPr id="31" name="Text 24"/>
          <p:cNvSpPr/>
          <p:nvPr/>
        </p:nvSpPr>
        <p:spPr>
          <a:xfrm>
            <a:off x="7260336" y="2176272"/>
            <a:ext cx="1316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link —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inside</a:t>
            </a:r>
            <a:endParaRPr lang="en-US" sz="850" dirty="0"/>
          </a:p>
        </p:txBody>
      </p:sp>
      <p:sp>
        <p:nvSpPr>
          <p:cNvPr id="32" name="Shape 25"/>
          <p:cNvSpPr/>
          <p:nvPr/>
        </p:nvSpPr>
        <p:spPr>
          <a:xfrm>
            <a:off x="457200" y="3200400"/>
            <a:ext cx="2679192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33" name="Shape 26"/>
          <p:cNvSpPr/>
          <p:nvPr/>
        </p:nvSpPr>
        <p:spPr>
          <a:xfrm>
            <a:off x="594360" y="3346704"/>
            <a:ext cx="365760" cy="365760"/>
          </a:xfrm>
          <a:prstGeom prst="ellipse">
            <a:avLst/>
          </a:prstGeom>
          <a:solidFill>
            <a:srgbClr val="16283C"/>
          </a:solidFill>
          <a:ln/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458" y="3441802"/>
            <a:ext cx="175565" cy="175565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1060704" y="334670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long-lived AWS keys</a:t>
            </a:r>
            <a:endParaRPr lang="en-US" sz="1150" dirty="0"/>
          </a:p>
        </p:txBody>
      </p:sp>
      <p:sp>
        <p:nvSpPr>
          <p:cNvPr id="36" name="Text 28"/>
          <p:cNvSpPr/>
          <p:nvPr/>
        </p:nvSpPr>
        <p:spPr>
          <a:xfrm>
            <a:off x="594360" y="3767328"/>
            <a:ext cx="2414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authenticates via OIDC; the IAM role is assumable only by this repo’s runs and can only write reports.</a:t>
            </a:r>
            <a:endParaRPr lang="en-US" sz="900" dirty="0"/>
          </a:p>
        </p:txBody>
      </p:sp>
      <p:sp>
        <p:nvSpPr>
          <p:cNvPr id="37" name="Shape 29"/>
          <p:cNvSpPr/>
          <p:nvPr/>
        </p:nvSpPr>
        <p:spPr>
          <a:xfrm>
            <a:off x="3255264" y="3200400"/>
            <a:ext cx="2679192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38" name="Shape 30"/>
          <p:cNvSpPr/>
          <p:nvPr/>
        </p:nvSpPr>
        <p:spPr>
          <a:xfrm>
            <a:off x="3392424" y="3346704"/>
            <a:ext cx="365760" cy="365760"/>
          </a:xfrm>
          <a:prstGeom prst="ellipse">
            <a:avLst/>
          </a:prstGeom>
          <a:solidFill>
            <a:srgbClr val="16283C"/>
          </a:solidFill>
          <a:ln/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87522" y="3441802"/>
            <a:ext cx="175565" cy="175565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3858768" y="334670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pings</a:t>
            </a:r>
            <a:endParaRPr lang="en-US" sz="1150" dirty="0"/>
          </a:p>
        </p:txBody>
      </p:sp>
      <p:sp>
        <p:nvSpPr>
          <p:cNvPr id="41" name="Text 32"/>
          <p:cNvSpPr/>
          <p:nvPr/>
        </p:nvSpPr>
        <p:spPr>
          <a:xfrm>
            <a:off x="3392424" y="3767328"/>
            <a:ext cx="2414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Slack webhook fires when a run fails — a monitor nobody hears is not a monitor.</a:t>
            </a:r>
            <a:endParaRPr lang="en-US" sz="900" dirty="0"/>
          </a:p>
        </p:txBody>
      </p:sp>
      <p:sp>
        <p:nvSpPr>
          <p:cNvPr id="42" name="Shape 33"/>
          <p:cNvSpPr/>
          <p:nvPr/>
        </p:nvSpPr>
        <p:spPr>
          <a:xfrm>
            <a:off x="6053328" y="3200400"/>
            <a:ext cx="2679192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43" name="Shape 34"/>
          <p:cNvSpPr/>
          <p:nvPr/>
        </p:nvSpPr>
        <p:spPr>
          <a:xfrm>
            <a:off x="6190488" y="3346704"/>
            <a:ext cx="365760" cy="365760"/>
          </a:xfrm>
          <a:prstGeom prst="ellipse">
            <a:avLst/>
          </a:prstGeom>
          <a:solidFill>
            <a:srgbClr val="16283C"/>
          </a:solidFill>
          <a:ln/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5586" y="3441802"/>
            <a:ext cx="175565" cy="175565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6656832" y="334670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Dependabot</a:t>
            </a:r>
            <a:endParaRPr lang="en-US" sz="1150" dirty="0"/>
          </a:p>
        </p:txBody>
      </p:sp>
      <p:sp>
        <p:nvSpPr>
          <p:cNvPr id="46" name="Text 36"/>
          <p:cNvSpPr/>
          <p:nvPr/>
        </p:nvSpPr>
        <p:spPr>
          <a:xfrm>
            <a:off x="6190488" y="3767328"/>
            <a:ext cx="2414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PRs keep Playwright, TypeScript and the workflow actions current — each PR gets the full test run.</a:t>
            </a:r>
            <a:endParaRPr lang="en-US" sz="900" dirty="0"/>
          </a:p>
        </p:txBody>
      </p:sp>
      <p:sp>
        <p:nvSpPr>
          <p:cNvPr id="47" name="Text 37"/>
          <p:cNvSpPr/>
          <p:nvPr/>
        </p:nvSpPr>
        <p:spPr>
          <a:xfrm>
            <a:off x="457200" y="464515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31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report:  https://d1536s1ld6tg9l.cloudfront.net/reports/latest/index.html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airline can adopt it — two artifacts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2679192" cy="1783080"/>
          </a:xfrm>
          <a:prstGeom prst="roundRect">
            <a:avLst>
              <a:gd name="adj" fmla="val 4615"/>
            </a:avLst>
          </a:prstGeom>
          <a:solidFill>
            <a:srgbClr val="F4F6F8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21792" y="1325880"/>
            <a:ext cx="457200" cy="457200"/>
          </a:xfrm>
          <a:prstGeom prst="ellipse">
            <a:avLst/>
          </a:prstGeom>
          <a:solidFill>
            <a:srgbClr val="EC008C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560320" y="1325880"/>
            <a:ext cx="402336" cy="402336"/>
          </a:xfrm>
          <a:prstGeom prst="ellipse">
            <a:avLst/>
          </a:prstGeom>
          <a:solidFill>
            <a:srgbClr val="16283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64927" y="1430487"/>
            <a:ext cx="193121" cy="19312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21792" y="19202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site profile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21792" y="2267712"/>
            <a:ext cx="23591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1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URLs, locale, calendar label format, results &amp; optional bot-block patterns — one typed object in siteProfile.ts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55264" y="1143000"/>
            <a:ext cx="2679192" cy="1783080"/>
          </a:xfrm>
          <a:prstGeom prst="roundRect">
            <a:avLst>
              <a:gd name="adj" fmla="val 4615"/>
            </a:avLst>
          </a:prstGeom>
          <a:solidFill>
            <a:srgbClr val="F4F6F8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419856" y="1325880"/>
            <a:ext cx="457200" cy="457200"/>
          </a:xfrm>
          <a:prstGeom prst="ellipse">
            <a:avLst/>
          </a:prstGeom>
          <a:solidFill>
            <a:srgbClr val="EC008C"/>
          </a:solidFill>
          <a:ln/>
        </p:spPr>
      </p:sp>
      <p:sp>
        <p:nvSpPr>
          <p:cNvPr id="12" name="Text 9"/>
          <p:cNvSpPr/>
          <p:nvPr/>
        </p:nvSpPr>
        <p:spPr>
          <a:xfrm>
            <a:off x="3419856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358384" y="1325880"/>
            <a:ext cx="402336" cy="402336"/>
          </a:xfrm>
          <a:prstGeom prst="ellipse">
            <a:avLst/>
          </a:prstGeom>
          <a:solidFill>
            <a:srgbClr val="16283C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2991" y="1430487"/>
            <a:ext cx="193121" cy="19312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419856" y="19202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widgets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3419856" y="2267712"/>
            <a:ext cx="23591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1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objects with self-healing chains for that airline’s search, results and passenger pages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053328" y="1143000"/>
            <a:ext cx="2679192" cy="1783080"/>
          </a:xfrm>
          <a:prstGeom prst="roundRect">
            <a:avLst>
              <a:gd name="adj" fmla="val 4615"/>
            </a:avLst>
          </a:prstGeom>
          <a:solidFill>
            <a:srgbClr val="F4F6F8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217920" y="1325880"/>
            <a:ext cx="457200" cy="457200"/>
          </a:xfrm>
          <a:prstGeom prst="ellipse">
            <a:avLst/>
          </a:prstGeom>
          <a:solidFill>
            <a:srgbClr val="00A0E3"/>
          </a:solidFill>
          <a:ln/>
        </p:spPr>
      </p:sp>
      <p:sp>
        <p:nvSpPr>
          <p:cNvPr id="19" name="Text 15"/>
          <p:cNvSpPr/>
          <p:nvPr/>
        </p:nvSpPr>
        <p:spPr>
          <a:xfrm>
            <a:off x="621792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8156448" y="1325880"/>
            <a:ext cx="402336" cy="402336"/>
          </a:xfrm>
          <a:prstGeom prst="ellipse">
            <a:avLst/>
          </a:prstGeom>
          <a:solidFill>
            <a:srgbClr val="16283C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055" y="1430487"/>
            <a:ext cx="193121" cy="193121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217920" y="19202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carries over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6217920" y="2267712"/>
            <a:ext cx="23591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1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Self-healing engine, skip-on-block, CI/CD, S3 reporting and screenshots — all reused unchanged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457200" y="3200400"/>
            <a:ext cx="8275320" cy="1600200"/>
          </a:xfrm>
          <a:prstGeom prst="roundRect">
            <a:avLst>
              <a:gd name="adj" fmla="val 5143"/>
            </a:avLst>
          </a:prstGeom>
          <a:solidFill>
            <a:srgbClr val="16283C"/>
          </a:solidFill>
          <a:ln/>
        </p:spPr>
      </p:sp>
      <p:sp>
        <p:nvSpPr>
          <p:cNvPr id="25" name="Text 20"/>
          <p:cNvSpPr/>
          <p:nvPr/>
        </p:nvSpPr>
        <p:spPr>
          <a:xfrm>
            <a:off x="713232" y="334670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A0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ON THE ROADMAP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713232" y="365760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Data-driven matrix: more routes, return trips, passenger mixes (adult / child / infant)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API-level funnel checks (Playwright request) for a faster drop-off signal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Lighthouse performance budget on the results page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Fare-family assertions (Lite vs bundled) as the fare mix changes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FlySafair Booking Funnel — Test Automation Framework</dc:title>
  <dc:subject>PptxGenJS Presentation</dc:subject>
  <dc:creator>Miss-Kay</dc:creator>
  <cp:lastModifiedBy>Miss-Kay</cp:lastModifiedBy>
  <cp:revision>1</cp:revision>
  <dcterms:created xsi:type="dcterms:W3CDTF">2026-09-05T14:01:29Z</dcterms:created>
  <dcterms:modified xsi:type="dcterms:W3CDTF">2026-09-05T14:01:29Z</dcterms:modified>
</cp:coreProperties>
</file>