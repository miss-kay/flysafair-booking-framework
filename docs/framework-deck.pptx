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FlySafair booking-funnel monitor. Unlike the flag carriers, FlySafair permits automation, so the whole funnel runs live — search through to the customer-details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live checkpoints, each asserted, each screenshotted. The fifth — payment — is a deliberate hard stop: we prove the funnel is passable without ever entering personal data or paying.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one dependency direction. Adopting another airline is a new site profile plus page objects — nothing else references the airline.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AI, no external service — an ordered chain per element. The heal log is the maintenance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the real search widget, the live results with a fare selected, and the passenger-details page reached with no data entered. The bottom bar states the ethical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run publishes an immutable per-run report and a stable latest link. Security: OIDC, repo-scoped role, least-privilege S3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FlySafair-specific surface is two small artifacts; the framework is the reusable rest. Roadmap ordered by signal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920240"/>
            <a:ext cx="4937760" cy="4937760"/>
          </a:xfrm>
          <a:prstGeom prst="ellipse">
            <a:avLst/>
          </a:prstGeom>
          <a:solidFill>
            <a:srgbClr val="EC00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-1188720"/>
            <a:ext cx="3291840" cy="3291840"/>
          </a:xfrm>
          <a:prstGeom prst="ellipse">
            <a:avLst/>
          </a:prstGeom>
          <a:solidFill>
            <a:srgbClr val="00A0E3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48640"/>
            <a:ext cx="713232" cy="713232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60" y="734080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554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FUNNEL DROP-OFF MONITOR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865376"/>
            <a:ext cx="8412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FlySafair Booking Funnel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Playwright framework that walks the live funnel end-to-end, with CI/CD to GitHub Actions &amp; AWS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2920" y="370332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22384F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70332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920240" y="370332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22384F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370332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37560" y="3703320"/>
            <a:ext cx="1636776" cy="402336"/>
          </a:xfrm>
          <a:prstGeom prst="roundRect">
            <a:avLst>
              <a:gd name="adj" fmla="val 50000"/>
            </a:avLst>
          </a:prstGeom>
          <a:solidFill>
            <a:srgbClr val="22384F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370332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138928" y="3703320"/>
            <a:ext cx="2116836" cy="402336"/>
          </a:xfrm>
          <a:prstGeom prst="roundRect">
            <a:avLst>
              <a:gd name="adj" fmla="val 50000"/>
            </a:avLst>
          </a:prstGeom>
          <a:solidFill>
            <a:srgbClr val="22384F"/>
          </a:solidFill>
          <a:ln w="12700">
            <a:solidFill>
              <a:srgbClr val="3146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38928" y="3703320"/>
            <a:ext cx="21168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github.com/Miss-Kay/flysafair-booking-framework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funnels leak customers silently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" cy="475488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1312347"/>
            <a:ext cx="228234" cy="2282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1338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widget is the front door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15568" y="1444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autocomplete or calendar loses customers before a booking exists — revenue just dips, no bug report.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475488" cy="475488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27" y="2592507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4140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 every step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15568" y="2724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destination, date, submit, fare, details — each checkpoint attaches a screenshot, so a failure shows what the customer saw.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749040"/>
            <a:ext cx="475488" cy="475488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7" y="3872667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6941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customers notice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15568" y="4005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and PR plus a scheduled run every 3rd day; a failure pinpoints the leaking step instead of a vague “bookings are down”.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983480" y="1051560"/>
            <a:ext cx="3657600" cy="512064"/>
          </a:xfrm>
          <a:prstGeom prst="roundRect">
            <a:avLst>
              <a:gd name="adj" fmla="val 14286"/>
            </a:avLst>
          </a:prstGeom>
          <a:solidFill>
            <a:srgbClr val="EC008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983480" y="105156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JNB → CPT, one-way, 30 days out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12280" y="1563624"/>
            <a:ext cx="0" cy="201168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212080" y="1764792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00A0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212080" y="17647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flight-selection page loads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12280" y="2276856"/>
            <a:ext cx="0" cy="201168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440680" y="2478024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0A0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440680" y="2478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flight + fare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bookable, cheapest fare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12280" y="2990088"/>
            <a:ext cx="0" cy="201168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669280" y="3191256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00A0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669280" y="31912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passenger page displayed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12280" y="3703320"/>
            <a:ext cx="0" cy="201168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875020" y="3904488"/>
            <a:ext cx="1874520" cy="512064"/>
          </a:xfrm>
          <a:prstGeom prst="roundRect">
            <a:avLst>
              <a:gd name="adj" fmla="val 14286"/>
            </a:avLst>
          </a:prstGeom>
          <a:solidFill>
            <a:srgbClr val="8A8D96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875020" y="390448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 stop — never automated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812280" y="4416552"/>
            <a:ext cx="0" cy="201168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457200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= automated &amp; asserted today · grey = the deliberate stop before payment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deliberately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3852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3504" y="1289304"/>
            <a:ext cx="384048" cy="384048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1389156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0704" y="1289304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spec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booking-journey.spec.ts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search in the matrix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23160" y="1792224"/>
            <a:ext cx="219456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70048" y="1143000"/>
            <a:ext cx="193852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16352" y="1289304"/>
            <a:ext cx="384048" cy="384048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204" y="138915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3552" y="1289304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16352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Results / Passenger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+ actions only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36008" y="1792224"/>
            <a:ext cx="219456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882896" y="1143000"/>
            <a:ext cx="193852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0" y="1289304"/>
            <a:ext cx="384048" cy="384048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052" y="1389156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1289304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locators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0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selfHealing.ts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fallback chains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48856" y="1792224"/>
            <a:ext cx="219456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095744" y="1143000"/>
            <a:ext cx="193852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42048" y="1289304"/>
            <a:ext cx="384048" cy="384048"/>
          </a:xfrm>
          <a:prstGeom prst="ellipse">
            <a:avLst/>
          </a:prstGeom>
          <a:solidFill>
            <a:srgbClr val="00A0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900" y="1389156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99248" y="1289304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flysafair.co.za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242048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site, driven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details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60120" y="3291840"/>
            <a:ext cx="23774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88136" y="3419856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724" y="3505444"/>
            <a:ext cx="158008" cy="1580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34198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profile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088136" y="378561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airline-specific value in one object — URLs, locale, results &amp; bot-block patterns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148840" y="3273552"/>
            <a:ext cx="0" cy="-45720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3566160" y="3291840"/>
            <a:ext cx="23774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94176" y="3419856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764" y="3505444"/>
            <a:ext cx="158008" cy="1580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114800" y="34198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test data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3694176" y="378561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matrix + evergreen dates (daysFromNow)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754880" y="3273552"/>
            <a:ext cx="0" cy="-45720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6172200" y="3291840"/>
            <a:ext cx="23774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300216" y="3419856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5804" y="3505444"/>
            <a:ext cx="158008" cy="1580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20840" y="34198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+ skip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300216" y="378561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heals logged loudly; a bot-blocked run skips, never false-fails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7360920" y="3273552"/>
            <a:ext cx="0" cy="-45720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44" name="Text 35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rules:  selectors live only in page objects  ·  heals are logged, never silent  ·  tests read like the customer journey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locators — ordered fallbacks, no magic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25296"/>
            <a:ext cx="4480560" cy="768096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08176"/>
            <a:ext cx="402336" cy="402336"/>
          </a:xfrm>
          <a:prstGeom prst="ellipse">
            <a:avLst/>
          </a:prstGeom>
          <a:solidFill>
            <a:srgbClr val="16283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3167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data-testid / stable attr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1636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— survives redesigns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993392"/>
            <a:ext cx="0" cy="146304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176272"/>
            <a:ext cx="4480560" cy="768096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359152"/>
            <a:ext cx="402336" cy="402336"/>
          </a:xfrm>
          <a:prstGeom prst="ellipse">
            <a:avLst/>
          </a:prstGeom>
          <a:solidFill>
            <a:srgbClr val="EC008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2677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accessible name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CSS refactors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2944368"/>
            <a:ext cx="0" cy="146304"/>
          </a:xfrm>
          <a:prstGeom prst="line">
            <a:avLst/>
          </a:prstGeom>
          <a:noFill/>
          <a:ln w="28575">
            <a:solidFill>
              <a:srgbClr val="B9BBC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127248"/>
            <a:ext cx="4480560" cy="768096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310128"/>
            <a:ext cx="402336" cy="402336"/>
          </a:xfrm>
          <a:prstGeom prst="ellipse">
            <a:avLst/>
          </a:prstGeom>
          <a:solidFill>
            <a:srgbClr val="16283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/ visible 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28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[SELF-HEAL] "One-way trip type": healed using fallback "role=radio oneWay" (candidate #2)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225296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EC008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12984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537960" y="135331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strategies per element — a UI change degrades the suite gracefully instead of breaking 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2615184"/>
            <a:ext cx="3474720" cy="1261872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2724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Heals demand a fix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30358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fallback use is logged with the failed candidates, so the primary selector gets repaired instead of rotting quietly.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funnel, driven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FlySafair permits automation, so every step runs against the real site — no mocks, no fixtures.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15768" cy="2487168"/>
          </a:xfrm>
          <a:prstGeom prst="roundRect">
            <a:avLst>
              <a:gd name="adj" fmla="val 2206"/>
            </a:avLst>
          </a:prstGeom>
          <a:solidFill>
            <a:srgbClr val="22384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private/tmp/claude-501/-Users-misskay-Downloads-flysafair-booking-framework/044d409d-92a4-4ebe-b3c7-15f425f1b723/scratchpad/fs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532888" cy="1700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31012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Search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35844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JNB → CPT, one-way, 30 days out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715768" cy="2487168"/>
          </a:xfrm>
          <a:prstGeom prst="roundRect">
            <a:avLst>
              <a:gd name="adj" fmla="val 2206"/>
            </a:avLst>
          </a:prstGeom>
          <a:solidFill>
            <a:srgbClr val="22384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private/tmp/claude-501/-Users-misskay-Downloads-flysafair-booking-framework/044d409d-92a4-4ebe-b3c7-15f425f1b723/scratchpad/fs-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1463040"/>
            <a:ext cx="2532888" cy="17007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8728" y="331012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Results &amp; fare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538728" y="35844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selected, cheapest fare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0" y="1371600"/>
            <a:ext cx="2715768" cy="2487168"/>
          </a:xfrm>
          <a:prstGeom prst="roundRect">
            <a:avLst>
              <a:gd name="adj" fmla="val 2206"/>
            </a:avLst>
          </a:prstGeom>
          <a:solidFill>
            <a:srgbClr val="22384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private/tmp/claude-501/-Users-misskay-Downloads-flysafair-booking-framework/044d409d-92a4-4ebe-b3c7-15f425f1b723/scratchpad/fs-passeng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1463040"/>
            <a:ext cx="2532888" cy="17007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10528" y="331012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Customer details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10528" y="35844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page — then STOP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4114800"/>
            <a:ext cx="8275320" cy="713232"/>
          </a:xfrm>
          <a:prstGeom prst="roundRect">
            <a:avLst>
              <a:gd name="adj" fmla="val 11538"/>
            </a:avLst>
          </a:prstGeom>
          <a:solidFill>
            <a:srgbClr val="22384F"/>
          </a:solidFill>
          <a:ln/>
        </p:spPr>
      </p:sp>
      <p:sp>
        <p:nvSpPr>
          <p:cNvPr id="17" name="Shape 12"/>
          <p:cNvSpPr/>
          <p:nvPr/>
        </p:nvSpPr>
        <p:spPr>
          <a:xfrm>
            <a:off x="621792" y="4224528"/>
            <a:ext cx="402336" cy="402336"/>
          </a:xfrm>
          <a:prstGeom prst="ellipse">
            <a:avLst/>
          </a:prstGeom>
          <a:solidFill>
            <a:srgbClr val="00A0E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99" y="4329135"/>
            <a:ext cx="193121" cy="1931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11480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block automation are handled honestly: if a bot-protection page appears, the test SKIPS with a reason — it never fakes a human session or evades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— from push to published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148132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353312"/>
            <a:ext cx="457200" cy="45720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47218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0352" y="2176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PR · every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day 06:00 SAST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47672" y="1920240"/>
            <a:ext cx="164592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39696" y="1188720"/>
            <a:ext cx="1463040" cy="148132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42616" y="1353312"/>
            <a:ext cx="457200" cy="457200"/>
          </a:xfrm>
          <a:prstGeom prst="ellipse">
            <a:avLst/>
          </a:prstGeom>
          <a:solidFill>
            <a:srgbClr val="EC00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47218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5416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job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212848" y="2176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(chromium)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30168" y="1920240"/>
            <a:ext cx="164592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22192" y="1188720"/>
            <a:ext cx="1463040" cy="148132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25112" y="1353312"/>
            <a:ext cx="457200" cy="45720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47218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67912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895344" y="2176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reports/&lt;run&gt;/ + latest/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lifecycle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312664" y="1920240"/>
            <a:ext cx="164592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04688" y="1188720"/>
            <a:ext cx="1463040" cy="148132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07608" y="1353312"/>
            <a:ext cx="457200" cy="457200"/>
          </a:xfrm>
          <a:prstGeom prst="ellipse">
            <a:avLst/>
          </a:prstGeom>
          <a:solidFill>
            <a:srgbClr val="00A0E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7218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577840" y="2176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no-cache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latest link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995160" y="1920240"/>
            <a:ext cx="164592" cy="0"/>
          </a:xfrm>
          <a:prstGeom prst="line">
            <a:avLst/>
          </a:prstGeom>
          <a:noFill/>
          <a:ln w="28575">
            <a:solidFill>
              <a:srgbClr val="9AA0A8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187184" y="1188720"/>
            <a:ext cx="1463040" cy="148132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90104" y="1353312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47218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32904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260336" y="2176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link 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inside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457200" y="3200400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94360" y="3346704"/>
            <a:ext cx="365760" cy="36576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8" y="3441802"/>
            <a:ext cx="175565" cy="17556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60704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AWS keys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94360" y="3767328"/>
            <a:ext cx="2414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authenticates via OIDC; the IAM role is assumable only by this repo’s runs and can only write reports.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3255264" y="3200400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392424" y="3346704"/>
            <a:ext cx="365760" cy="36576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522" y="3441802"/>
            <a:ext cx="175565" cy="17556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858768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pings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3392424" y="3767328"/>
            <a:ext cx="2414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Slack webhook fires when a run fails — a monitor nobody hears is not a monitor.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053328" y="3200400"/>
            <a:ext cx="26791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190488" y="3346704"/>
            <a:ext cx="365760" cy="365760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586" y="3441802"/>
            <a:ext cx="175565" cy="175565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656832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6190488" y="3767328"/>
            <a:ext cx="2414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PRs keep Playwright, TypeScript and the workflow actions current — each PR gets the full test run.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report:  https://d1536s1ld6tg9l.cloudfront.net/reports/latest/index.html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airline can adopt it — two artifacts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rgbClr val="EC008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0" y="1325880"/>
            <a:ext cx="402336" cy="402336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927" y="1430487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920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site profile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1792" y="226771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locale, calendar label format, results &amp; optional bot-block patterns — one typed object in siteProfile.ts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5264" y="11430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9856" y="1325880"/>
            <a:ext cx="457200" cy="457200"/>
          </a:xfrm>
          <a:prstGeom prst="ellipse">
            <a:avLst/>
          </a:prstGeom>
          <a:solidFill>
            <a:srgbClr val="EC008C"/>
          </a:solidFill>
          <a:ln/>
        </p:spPr>
      </p:sp>
      <p:sp>
        <p:nvSpPr>
          <p:cNvPr id="12" name="Text 9"/>
          <p:cNvSpPr/>
          <p:nvPr/>
        </p:nvSpPr>
        <p:spPr>
          <a:xfrm>
            <a:off x="341985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358384" y="1325880"/>
            <a:ext cx="402336" cy="402336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991" y="1430487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9856" y="1920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widgets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19856" y="226771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with self-healing chains for that airline’s search, results and passenger pages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53328" y="1143000"/>
            <a:ext cx="2679192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325880"/>
            <a:ext cx="457200" cy="457200"/>
          </a:xfrm>
          <a:prstGeom prst="ellipse">
            <a:avLst/>
          </a:prstGeom>
          <a:solidFill>
            <a:srgbClr val="00A0E3"/>
          </a:solidFill>
          <a:ln/>
        </p:spPr>
      </p:sp>
      <p:sp>
        <p:nvSpPr>
          <p:cNvPr id="19" name="Text 15"/>
          <p:cNvSpPr/>
          <p:nvPr/>
        </p:nvSpPr>
        <p:spPr>
          <a:xfrm>
            <a:off x="6217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156448" y="1325880"/>
            <a:ext cx="402336" cy="402336"/>
          </a:xfrm>
          <a:prstGeom prst="ellipse">
            <a:avLst/>
          </a:prstGeom>
          <a:solidFill>
            <a:srgbClr val="16283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055" y="1430487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1920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carries over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217920" y="226771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engine, skip-on-block, CI/CD, S3 reporting and screenshots — all reused unchanged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3200400"/>
            <a:ext cx="8275320" cy="1600200"/>
          </a:xfrm>
          <a:prstGeom prst="roundRect">
            <a:avLst>
              <a:gd name="adj" fmla="val 5143"/>
            </a:avLst>
          </a:prstGeom>
          <a:solidFill>
            <a:srgbClr val="16283C"/>
          </a:solidFill>
          <a:ln/>
        </p:spPr>
      </p:sp>
      <p:sp>
        <p:nvSpPr>
          <p:cNvPr id="25" name="Text 20"/>
          <p:cNvSpPr/>
          <p:nvPr/>
        </p:nvSpPr>
        <p:spPr>
          <a:xfrm>
            <a:off x="713232" y="3346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ROADMAP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13232" y="3657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Data-driven matrix: more routes, return trips, passenger mixes (adult / child / infant)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API-level funnel checks (Playwright request) for a faster drop-off signal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Lighthouse performance budget on the results page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Fare-family assertions (Lite vs bundled) as the fare mix changes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FlySafair Booking Funnel — Test Automation Framework</dc:title>
  <dc:subject>PptxGenJS Presentation</dc:subject>
  <dc:creator>Miss-Kay</dc:creator>
  <cp:lastModifiedBy>Miss-Kay</cp:lastModifiedBy>
  <cp:revision>1</cp:revision>
  <dcterms:created xsi:type="dcterms:W3CDTF">2026-09-05T15:34:55Z</dcterms:created>
  <dcterms:modified xsi:type="dcterms:W3CDTF">2026-09-05T15:34:55Z</dcterms:modified>
</cp:coreProperties>
</file>